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  <p:embeddedFont>
      <p:font typeface="Saira Semi Condensed"/>
      <p:regular r:id="rId201317"/>
    </p:embeddedFont>
    <p:embeddedFont>
      <p:font typeface="Saira Semi Condensed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3770" y="1447800"/>
            <a:ext cx="72134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IBM SKILLSBUILD DATA ANALYTICS WITH AI INTERNSHIP PROJECT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93770" y="1707455"/>
            <a:ext cx="6603835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Household Energy Pattern Segmentation and Consumption Prediction Using Machine Learning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1193770" y="4114105"/>
            <a:ext cx="2179186" cy="19050"/>
          </a:xfrm>
          <a:prstGeom prst="roundRect">
            <a:avLst>
              <a:gd name="adj" fmla="val 49999"/>
            </a:avLst>
          </a:prstGeom>
          <a:solidFill>
            <a:srgbClr val="0A3F46"/>
          </a:solidFill>
          <a:ln/>
        </p:spPr>
      </p:sp>
      <p:sp>
        <p:nvSpPr>
          <p:cNvPr id="5" name="Text 3"/>
          <p:cNvSpPr/>
          <p:nvPr/>
        </p:nvSpPr>
        <p:spPr>
          <a:xfrm>
            <a:off x="1193770" y="4336355"/>
            <a:ext cx="72134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Vishwesh Anand · 2024PECML219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93770" y="4743946"/>
            <a:ext cx="72134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Artificial Intelligence and Machine Learning · Panimalar Engineering College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36129"/>
            <a:ext cx="438139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 — THE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95784"/>
            <a:ext cx="438139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Energy data can reveal recurring household-use states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3913584"/>
            <a:ext cx="438139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Time, day, and seasonal conditions leave a recognizable structure in appliance energy consumption.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48164" y="707529"/>
            <a:ext cx="6133947" cy="4181177"/>
          </a:xfrm>
          <a:prstGeom prst="rect">
            <a:avLst/>
          </a:prstGeom>
          <a:solidFill>
            <a:srgbClr val="EAF6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6758" y="936129"/>
            <a:ext cx="444489" cy="44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76758" y="1485404"/>
            <a:ext cx="26859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Historical rhythm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76758" y="1891804"/>
            <a:ext cx="268598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Appliance energy consumption changes with time, day, and seasonal conditions.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533" y="936129"/>
            <a:ext cx="444489" cy="44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67533" y="1485404"/>
            <a:ext cx="26859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Recurring patterns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667533" y="1891804"/>
            <a:ext cx="268598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Machine learning can discover recurring patterns from historical energy data.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758" y="2943126"/>
            <a:ext cx="444489" cy="444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76758" y="3492401"/>
            <a:ext cx="567675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Two analytical views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5676758" y="3898801"/>
            <a:ext cx="567675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Unsupervised pattern discovery plus supervised next-10-minute prediction.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09585" y="5117306"/>
            <a:ext cx="2628834" cy="71120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16" name="Shape 11"/>
          <p:cNvSpPr/>
          <p:nvPr/>
        </p:nvSpPr>
        <p:spPr>
          <a:xfrm>
            <a:off x="631710" y="5139432"/>
            <a:ext cx="2584286" cy="6667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7" name="Text 12"/>
          <p:cNvSpPr/>
          <p:nvPr/>
        </p:nvSpPr>
        <p:spPr>
          <a:xfrm>
            <a:off x="1868143" y="5339556"/>
            <a:ext cx="7212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09585" y="5901531"/>
            <a:ext cx="262883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Energy Data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390815" y="5117306"/>
            <a:ext cx="2628834" cy="71120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20" name="Shape 15"/>
          <p:cNvSpPr/>
          <p:nvPr/>
        </p:nvSpPr>
        <p:spPr>
          <a:xfrm>
            <a:off x="3412940" y="5139432"/>
            <a:ext cx="2584286" cy="6667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21" name="Text 16"/>
          <p:cNvSpPr/>
          <p:nvPr/>
        </p:nvSpPr>
        <p:spPr>
          <a:xfrm>
            <a:off x="4622883" y="5339556"/>
            <a:ext cx="7742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3390815" y="5901531"/>
            <a:ext cx="262883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Pattern Discovery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172046" y="5117306"/>
            <a:ext cx="2628834" cy="71120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24" name="Shape 19"/>
          <p:cNvSpPr/>
          <p:nvPr/>
        </p:nvSpPr>
        <p:spPr>
          <a:xfrm>
            <a:off x="6194171" y="5139432"/>
            <a:ext cx="2584286" cy="6667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25" name="Text 20"/>
          <p:cNvSpPr/>
          <p:nvPr/>
        </p:nvSpPr>
        <p:spPr>
          <a:xfrm>
            <a:off x="7399847" y="5339556"/>
            <a:ext cx="7827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6172046" y="5901531"/>
            <a:ext cx="262883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953276" y="5117306"/>
            <a:ext cx="2628834" cy="71120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28" name="Shape 23"/>
          <p:cNvSpPr/>
          <p:nvPr/>
        </p:nvSpPr>
        <p:spPr>
          <a:xfrm>
            <a:off x="8975401" y="5139432"/>
            <a:ext cx="2584286" cy="6667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29" name="Text 24"/>
          <p:cNvSpPr/>
          <p:nvPr/>
        </p:nvSpPr>
        <p:spPr>
          <a:xfrm>
            <a:off x="10181871" y="5339556"/>
            <a:ext cx="7812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30" name="Text 25"/>
          <p:cNvSpPr/>
          <p:nvPr/>
        </p:nvSpPr>
        <p:spPr>
          <a:xfrm>
            <a:off x="8953276" y="5901531"/>
            <a:ext cx="262883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Analytical Insights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507896" y="6466086"/>
            <a:ext cx="68379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 — THE CHALLENGE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The challenge is to understand and anticipate changing consumption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88096"/>
            <a:ext cx="5333867" cy="2672953"/>
          </a:xfrm>
          <a:prstGeom prst="roundRect">
            <a:avLst>
              <a:gd name="adj" fmla="val 428"/>
            </a:avLst>
          </a:prstGeom>
          <a:solidFill>
            <a:srgbClr val="0A3F4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616696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Consumption varies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179" y="3023096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Across time of day, weekdays and weekends, months and seasons, and environmental conditions.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388096"/>
            <a:ext cx="5333867" cy="2672953"/>
          </a:xfrm>
          <a:prstGeom prst="roundRect">
            <a:avLst>
              <a:gd name="adj" fmla="val 428"/>
            </a:avLst>
          </a:prstGeom>
          <a:solidFill>
            <a:srgbClr val="0A3F46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616696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Patterns to identify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76838" y="3023096"/>
            <a:ext cx="487667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recurring energy-consumption patterns and understand the characteristics of different consumption states.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6838" y="3928368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Prediction target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6838" y="4334768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Predict appliance consumption for the following 10-minute interval.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5264249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2F6A73"/>
          </a:solidFill>
          <a:ln/>
        </p:spPr>
      </p:sp>
      <p:sp>
        <p:nvSpPr>
          <p:cNvPr id="13" name="Text 11"/>
          <p:cNvSpPr/>
          <p:nvPr/>
        </p:nvSpPr>
        <p:spPr>
          <a:xfrm>
            <a:off x="609585" y="548649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models using standard metrics and generate data-driven observations.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03630" y="6466086"/>
            <a:ext cx="6880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 — THE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The project follows an end-to-end machine-learning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94036"/>
            <a:ext cx="10972526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 and explore the dataset.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 quality, preprocess, and engineer features.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Apply K-Means, evaluate cluster counts, and visualize with PCA.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regression models for next-10-minute prediction.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Evaluate, interpret, and summarize energy patterns.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503829" y="6466086"/>
            <a:ext cx="68786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38200"/>
            <a:ext cx="70102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 — THE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097855"/>
            <a:ext cx="70102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The UCI dataset captures appliance energy every 10 minutes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3180655"/>
            <a:ext cx="701022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UCI Machine Learning Repository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534271"/>
          <a:ext cx="7010225" cy="914400"/>
        </p:xfrm>
        <a:graphic>
          <a:graphicData uri="http://schemas.openxmlformats.org/drawingml/2006/table">
            <a:tbl>
              <a:tblPr/>
              <a:tblGrid>
                <a:gridCol w="2523665"/>
                <a:gridCol w="4486560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Field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What it carries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19,735 observations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Multivariate time series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Time column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date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Target variable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Appliances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Context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AF6F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Lighting, indoor conditions, and outdoor weather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6D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998" y="609600"/>
            <a:ext cx="3505112" cy="513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592068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Variables include lights, T1–T9, RH_1–RH_9, T_out, Press_mm_hg, RH_out, Windspeed, Visibility, Tdewpoint, rv1, and rv2.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502340" y="6466086"/>
            <a:ext cx="6893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 — THE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The stack covers the full analytics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494036"/>
            <a:ext cx="3505112" cy="2224782"/>
          </a:xfrm>
          <a:prstGeom prst="roundRect">
            <a:avLst>
              <a:gd name="adj" fmla="val 514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1741686"/>
            <a:ext cx="30098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Python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7229" y="2148086"/>
            <a:ext cx="325746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language.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9489" y="1494036"/>
            <a:ext cx="3352716" cy="2224782"/>
          </a:xfrm>
          <a:prstGeom prst="roundRect">
            <a:avLst>
              <a:gd name="adj" fmla="val 514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7133" y="1741686"/>
            <a:ext cx="28574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pandas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7133" y="2148086"/>
            <a:ext cx="3105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loading and cleaning.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76998" y="1494036"/>
            <a:ext cx="3505112" cy="2224782"/>
          </a:xfrm>
          <a:prstGeom prst="roundRect">
            <a:avLst>
              <a:gd name="adj" fmla="val 514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4642" y="1741686"/>
            <a:ext cx="30098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NumPy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4642" y="2148086"/>
            <a:ext cx="325746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Numerical operations.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4023618"/>
            <a:ext cx="3505112" cy="2224782"/>
          </a:xfrm>
          <a:prstGeom prst="roundRect">
            <a:avLst>
              <a:gd name="adj" fmla="val 514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229" y="4271268"/>
            <a:ext cx="30098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Matplotlib and Seaborn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7229" y="4677668"/>
            <a:ext cx="325746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Visual analysis.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19489" y="4023618"/>
            <a:ext cx="3352716" cy="2224782"/>
          </a:xfrm>
          <a:prstGeom prst="roundRect">
            <a:avLst>
              <a:gd name="adj" fmla="val 514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7133" y="4271268"/>
            <a:ext cx="28574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7133" y="4677668"/>
            <a:ext cx="28574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Preprocessing, clustering, PCA, regression, and evaluation.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76998" y="4023618"/>
            <a:ext cx="3505112" cy="2224782"/>
          </a:xfrm>
          <a:prstGeom prst="roundRect">
            <a:avLst>
              <a:gd name="adj" fmla="val 514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4642" y="4271268"/>
            <a:ext cx="300982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Jupyter Notebook / Google Colab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4642" y="4957068"/>
            <a:ext cx="30098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Development and execution environment.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04622" y="6466086"/>
            <a:ext cx="68707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From raw observations to interpretable energy insights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181721"/>
            <a:ext cx="79601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73808" y="2128441"/>
            <a:ext cx="504584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Loading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046" y="2181721"/>
            <a:ext cx="83133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71590" y="2128441"/>
            <a:ext cx="501052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Quality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2618482"/>
            <a:ext cx="83609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3891" y="2565202"/>
            <a:ext cx="500575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Cleaning and Preprocessing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046" y="2618482"/>
            <a:ext cx="8355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75757" y="2565202"/>
            <a:ext cx="500635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85" y="3055243"/>
            <a:ext cx="838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6471" y="3001962"/>
            <a:ext cx="500317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2046" y="3055243"/>
            <a:ext cx="83510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75360" y="3001962"/>
            <a:ext cx="500675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 Scaling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585" y="3492004"/>
            <a:ext cx="82766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458" y="3438723"/>
            <a:ext cx="501419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K-Means Clustering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046" y="3492004"/>
            <a:ext cx="8381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78435" y="3438723"/>
            <a:ext cx="500367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Elbow and Silhouette Evaluation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585" y="3928765"/>
            <a:ext cx="83510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2899" y="3875484"/>
            <a:ext cx="500675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PCA Visualization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046" y="3928765"/>
            <a:ext cx="79601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6269" y="3875484"/>
            <a:ext cx="504584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Next-10-Minute Prediction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585" y="4365526"/>
            <a:ext cx="7584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6205" y="4312245"/>
            <a:ext cx="508344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Regression Models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046" y="4365526"/>
            <a:ext cx="79382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4086" y="4312245"/>
            <a:ext cx="504802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585" y="4802287"/>
            <a:ext cx="79938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7181" y="4749006"/>
            <a:ext cx="50424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Cluster Interpretation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72046" y="4802287"/>
            <a:ext cx="79849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8749" y="4749006"/>
            <a:ext cx="50433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Energy Insights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07301" y="6466086"/>
            <a:ext cx="6843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 — FEATURE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Time, rolling, and lag features make the data ML-ready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61505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2F6A7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5837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Transformation: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Raw Data → Cleaning → Feature Engineering → ML-ready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4043363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Cleaning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4449762"/>
            <a:ext cx="525766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Removed duplicate observations, checked missing values, validated the target, converted date to datetime, and sorted chronologically. Applied IQR-based target outlier filtering.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4442" y="4043363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24442" y="4449762"/>
            <a:ext cx="525766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Hour, DayOfWeek, Month, Year, IsWeekend, Quarter, TimeOfDay, and Season. Added Rolling_Mean_24, Rolling_Std_24, Lag_1, and Lag_24.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498" y="2991346"/>
            <a:ext cx="12700" cy="3257054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11" name="Text 9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01547" y="6466086"/>
            <a:ext cx="69014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 — EXPLORATORY DATA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EDA frames the patterns before modeling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1682055"/>
            <a:ext cx="3454314" cy="3319165"/>
          </a:xfrm>
          <a:prstGeom prst="roundRect">
            <a:avLst>
              <a:gd name="adj" fmla="val 344"/>
            </a:avLst>
          </a:prstGeom>
          <a:solidFill>
            <a:srgbClr val="0A3F4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910655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Distribution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179" y="2317055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Inspect the distribution of appliance energy consumption.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8179" y="2963962"/>
            <a:ext cx="2997125" cy="19050"/>
          </a:xfrm>
          <a:prstGeom prst="roundRect">
            <a:avLst>
              <a:gd name="adj" fmla="val 49999"/>
            </a:avLst>
          </a:prstGeom>
          <a:solidFill>
            <a:srgbClr val="2F6A73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132237"/>
            <a:ext cx="32257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Qualitative view · shape and spread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8691" y="1682055"/>
            <a:ext cx="3454314" cy="3319165"/>
          </a:xfrm>
          <a:prstGeom prst="roundRect">
            <a:avLst>
              <a:gd name="adj" fmla="val 344"/>
            </a:avLst>
          </a:prstGeom>
          <a:solidFill>
            <a:srgbClr val="0A3F46"/>
          </a:solidFill>
          <a:ln/>
        </p:spPr>
      </p:sp>
      <p:sp>
        <p:nvSpPr>
          <p:cNvPr id="10" name="Text 8"/>
          <p:cNvSpPr/>
          <p:nvPr/>
        </p:nvSpPr>
        <p:spPr>
          <a:xfrm>
            <a:off x="4597285" y="1910655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Time-of-day profile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7285" y="2317055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energy consumption across hours.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97285" y="2963962"/>
            <a:ext cx="2997125" cy="19050"/>
          </a:xfrm>
          <a:prstGeom prst="roundRect">
            <a:avLst>
              <a:gd name="adj" fmla="val 49999"/>
            </a:avLst>
          </a:prstGeom>
          <a:solidFill>
            <a:srgbClr val="2F6A73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285" y="3132237"/>
            <a:ext cx="32257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Qualitative view · hourly rhythm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7797" y="1682055"/>
            <a:ext cx="3454314" cy="3319165"/>
          </a:xfrm>
          <a:prstGeom prst="roundRect">
            <a:avLst>
              <a:gd name="adj" fmla="val 344"/>
            </a:avLst>
          </a:prstGeom>
          <a:solidFill>
            <a:srgbClr val="0A3F46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391" y="1910655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Calendar and environment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56391" y="2317055"/>
            <a:ext cx="2997125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Examine weekday versus weekend behavior.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monthly and seasonal patterns.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Study relationships with environmental variables through correlation analysis.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56391" y="4417715"/>
            <a:ext cx="2997125" cy="19050"/>
          </a:xfrm>
          <a:prstGeom prst="roundRect">
            <a:avLst>
              <a:gd name="adj" fmla="val 49999"/>
            </a:avLst>
          </a:prstGeom>
          <a:solidFill>
            <a:srgbClr val="2F6A73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1" y="4585990"/>
            <a:ext cx="32257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Qualitative view · context and relationships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585" y="515997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notebook charts if available; otherwise show qualitative chart panels without invented numerical values.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04325" y="6466086"/>
            <a:ext cx="68737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17550"/>
            <a:ext cx="408423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 — CLUSTERING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77205"/>
            <a:ext cx="3474653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K-Means segments recurring time-based consumption patterns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4965005"/>
            <a:ext cx="347465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These clusters represent recurring time-based energy-consumption patterns, not ten physically separate households.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5870277"/>
            <a:ext cx="2311144" cy="270173"/>
          </a:xfrm>
          <a:prstGeom prst="roundRect">
            <a:avLst>
              <a:gd name="adj" fmla="val 4231"/>
            </a:avLst>
          </a:prstGeom>
          <a:solidFill>
            <a:srgbClr val="0A3C43"/>
          </a:solidFill>
          <a:ln/>
        </p:spPr>
      </p:sp>
      <p:sp>
        <p:nvSpPr>
          <p:cNvPr id="6" name="Text 4"/>
          <p:cNvSpPr/>
          <p:nvPr/>
        </p:nvSpPr>
        <p:spPr>
          <a:xfrm>
            <a:off x="716242" y="5923558"/>
            <a:ext cx="270741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FINAL CONFIGURATION · K = 10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497" y="2173784"/>
            <a:ext cx="5821614" cy="25104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3714" y="2479598"/>
            <a:ext cx="3201426" cy="14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Select Features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53714" y="3061757"/>
            <a:ext cx="3201426" cy="14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Standardize Data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3714" y="3638093"/>
            <a:ext cx="3201426" cy="14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Evaluate 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153714" y="4214430"/>
            <a:ext cx="3201426" cy="14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Cluster &amp; Interpret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9585" y="6379071"/>
            <a:ext cx="365750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Household Energy Pattern Segmentation and Consumption Prediction Using Machine Learning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55312" y="6466086"/>
            <a:ext cx="7363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2026-10-03T12:25:49Z</dcterms:created>
  <dcterms:modified xsi:type="dcterms:W3CDTF">2026-10-03T12:25:49Z</dcterms:modified>
</cp:coreProperties>
</file>